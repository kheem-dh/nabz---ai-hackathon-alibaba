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Geis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eist-regular.fntdata"/><Relationship Id="rId11" Type="http://schemas.openxmlformats.org/officeDocument/2006/relationships/slide" Target="slides/slide5.xml"/><Relationship Id="rId22" Type="http://schemas.openxmlformats.org/officeDocument/2006/relationships/font" Target="fonts/Geist-italic.fntdata"/><Relationship Id="rId10" Type="http://schemas.openxmlformats.org/officeDocument/2006/relationships/slide" Target="slides/slide4.xml"/><Relationship Id="rId21" Type="http://schemas.openxmlformats.org/officeDocument/2006/relationships/font" Target="fonts/Geist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Geis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9e94c4ca1_2_6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f9e94c4ca1_2_6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f9e94c4ca1_2_6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9e94c4ca1_2_15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f9e94c4ca1_2_15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f9e94c4ca1_2_15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9e94c4ca1_2_30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f9e94c4ca1_2_30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f9e94c4ca1_2_30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9e94c4ca1_2_49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f9e94c4ca1_2_49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f9e94c4ca1_2_49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e94c4ca1_2_73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9e94c4ca1_2_73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f9e94c4ca1_2_73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e94c4ca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9e94c4ca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9e94c4ca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9e94c4ca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9e94c4ca1_2_90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f9e94c4ca1_2_90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f9e94c4ca1_2_90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9e94c4ca1_2_105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f9e94c4ca1_2_105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f9e94c4ca1_2_105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9e94c4ca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f9e94c4ca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9e94c4ca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9e94c4ca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9e94c4ca1_2_131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f9e94c4ca1_2_131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f9e94c4ca1_2_131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9e94c4ca1_2_147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f9e94c4ca1_2_147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f9e94c4ca1_2_147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4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E5F9F2">
              <a:alpha val="9490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1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07878" y="4919243"/>
            <a:ext cx="803882" cy="19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3559" y="0"/>
            <a:ext cx="3600456" cy="5143500"/>
          </a:xfrm>
          <a:custGeom>
            <a:rect b="b" l="l" r="r" t="t"/>
            <a:pathLst>
              <a:path extrusionOk="0" h="100000" w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descr="preencoded.png" id="62" name="Google Shape;6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35385" y="107675"/>
            <a:ext cx="3687326" cy="4916548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6"/>
          <p:cNvSpPr/>
          <p:nvPr/>
        </p:nvSpPr>
        <p:spPr>
          <a:xfrm>
            <a:off x="496125" y="1163625"/>
            <a:ext cx="68499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2800"/>
              <a:buFont typeface="Arial"/>
              <a:buNone/>
            </a:pPr>
            <a:r>
              <a:rPr b="1" lang="en" sz="2900" cap="none" strike="noStrike">
                <a:solidFill>
                  <a:srgbClr val="006747"/>
                </a:solidFill>
              </a:rPr>
              <a:t>Nabz</a:t>
            </a:r>
            <a:r>
              <a:rPr b="1" lang="en" sz="2900">
                <a:solidFill>
                  <a:srgbClr val="006747"/>
                </a:solidFill>
              </a:rPr>
              <a:t>AI</a:t>
            </a:r>
            <a:r>
              <a:rPr b="1" lang="en" sz="3900">
                <a:solidFill>
                  <a:srgbClr val="006747"/>
                </a:solidFill>
                <a:highlight>
                  <a:srgbClr val="F6F5F1"/>
                </a:highlight>
              </a:rPr>
              <a:t>نب</a:t>
            </a:r>
            <a:r>
              <a:rPr b="1" lang="en" sz="3700">
                <a:solidFill>
                  <a:srgbClr val="006747"/>
                </a:solidFill>
              </a:rPr>
              <a:t>ض</a:t>
            </a:r>
            <a:endParaRPr b="1" sz="3700">
              <a:solidFill>
                <a:srgbClr val="0067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2800"/>
              <a:buFont typeface="Arial"/>
              <a:buNone/>
            </a:pPr>
            <a:r>
              <a:rPr b="1" lang="en" sz="1500">
                <a:solidFill>
                  <a:srgbClr val="006747"/>
                </a:solidFill>
              </a:rPr>
              <a:t>Your voice, your health</a:t>
            </a:r>
            <a:endParaRPr b="1" sz="1500">
              <a:solidFill>
                <a:srgbClr val="0067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2800"/>
              <a:buFont typeface="Arial"/>
              <a:buNone/>
            </a:pPr>
            <a:r>
              <a:t/>
            </a:r>
            <a:endParaRPr b="1" sz="1500">
              <a:solidFill>
                <a:srgbClr val="006747"/>
              </a:solidFill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2800"/>
              <a:buFont typeface="Arial"/>
              <a:buNone/>
            </a:pPr>
            <a:br>
              <a:rPr b="1" lang="en" cap="none" strike="noStrike">
                <a:solidFill>
                  <a:srgbClr val="006747"/>
                </a:solidFill>
              </a:rPr>
            </a:br>
            <a:r>
              <a:rPr b="1" lang="en" sz="4200">
                <a:solidFill>
                  <a:srgbClr val="006747"/>
                </a:solidFill>
              </a:rPr>
              <a:t>آ</a:t>
            </a:r>
            <a:r>
              <a:rPr b="1" lang="en" sz="4200">
                <a:solidFill>
                  <a:srgbClr val="006747"/>
                </a:solidFill>
              </a:rPr>
              <a:t>پ کی آواز، آپ کی صحت</a:t>
            </a:r>
            <a:endParaRPr b="1" sz="4200">
              <a:solidFill>
                <a:srgbClr val="00674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06747"/>
                </a:solidFill>
                <a:latin typeface="Calibri"/>
                <a:ea typeface="Calibri"/>
                <a:cs typeface="Calibri"/>
                <a:sym typeface="Calibri"/>
              </a:rPr>
              <a:t>Nabz</a:t>
            </a:r>
            <a:r>
              <a:rPr lang="en" sz="1800">
                <a:solidFill>
                  <a:srgbClr val="006747"/>
                </a:solidFill>
                <a:latin typeface="Calibri"/>
                <a:ea typeface="Calibri"/>
                <a:cs typeface="Calibri"/>
                <a:sym typeface="Calibri"/>
              </a:rPr>
              <a:t> is a voice-first, Urdu-first AI health companion.</a:t>
            </a:r>
            <a:endParaRPr b="1" sz="2800" cap="none" strike="noStrike">
              <a:solidFill>
                <a:srgbClr val="0067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6"/>
          <p:cNvSpPr/>
          <p:nvPr/>
        </p:nvSpPr>
        <p:spPr>
          <a:xfrm>
            <a:off x="455394" y="4236993"/>
            <a:ext cx="51801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100"/>
              <a:buFont typeface="Geist"/>
              <a:buNone/>
            </a:pPr>
            <a:r>
              <a:rPr b="0" i="0" lang="en" sz="11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Alibaba Cloud AI Hackathon Pakistan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0" name="Google Shape;7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826740"/>
            <a:ext cx="3489858" cy="348994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7"/>
          <p:cNvSpPr/>
          <p:nvPr/>
        </p:nvSpPr>
        <p:spPr>
          <a:xfrm>
            <a:off x="4314981" y="575593"/>
            <a:ext cx="991048" cy="201885"/>
          </a:xfrm>
          <a:prstGeom prst="roundRect">
            <a:avLst>
              <a:gd fmla="val 47399" name="adj"/>
            </a:avLst>
          </a:prstGeom>
          <a:solidFill>
            <a:srgbClr val="CCFFE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7"/>
          <p:cNvSpPr/>
          <p:nvPr/>
        </p:nvSpPr>
        <p:spPr>
          <a:xfrm>
            <a:off x="4394678" y="615404"/>
            <a:ext cx="1288854" cy="1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800"/>
              <a:buFont typeface="Geist"/>
              <a:buNone/>
            </a:pPr>
            <a:r>
              <a:rPr b="0" i="0" lang="en" sz="8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MEET OUR USER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7"/>
          <p:cNvSpPr/>
          <p:nvPr/>
        </p:nvSpPr>
        <p:spPr>
          <a:xfrm>
            <a:off x="4314981" y="827261"/>
            <a:ext cx="4337603" cy="41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Meet Amna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7"/>
          <p:cNvSpPr/>
          <p:nvPr/>
        </p:nvSpPr>
        <p:spPr>
          <a:xfrm>
            <a:off x="4314981" y="1367135"/>
            <a:ext cx="4337603" cy="617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000"/>
              <a:buFont typeface="Geist"/>
              <a:buNone/>
            </a:pPr>
            <a:r>
              <a:rPr b="1" i="0" lang="en" sz="10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Amna, 35</a:t>
            </a:r>
            <a:r>
              <a:rPr b="0" i="0" lang="en" sz="10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 — mother of 3 in rural Punjab. Speaks only Urdu and local Punjabi. No formal education. Cannot read English or navigate digital health apps.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4514337" y="2237259"/>
            <a:ext cx="4138247" cy="411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000"/>
              <a:buFont typeface="Geist"/>
              <a:buNone/>
            </a:pPr>
            <a:r>
              <a:rPr b="0" i="0" lang="en" sz="10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"What if it's serious and I miss it? What if I waste money on a doctor for nothing?"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4314981" y="2125191"/>
            <a:ext cx="14288" cy="636091"/>
          </a:xfrm>
          <a:prstGeom prst="roundRect">
            <a:avLst>
              <a:gd fmla="val 49999" name="adj"/>
            </a:avLst>
          </a:prstGeom>
          <a:solidFill>
            <a:srgbClr val="00674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7"/>
          <p:cNvSpPr/>
          <p:nvPr/>
        </p:nvSpPr>
        <p:spPr>
          <a:xfrm>
            <a:off x="4314981" y="2901404"/>
            <a:ext cx="4337603" cy="617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000"/>
              <a:buFont typeface="Geist"/>
              <a:buNone/>
            </a:pPr>
            <a:r>
              <a:rPr b="0" i="0" lang="en" sz="10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When her children fall ill, Amna waits </a:t>
            </a:r>
            <a:r>
              <a:rPr b="1" i="0" lang="en" sz="10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6+ hours</a:t>
            </a:r>
            <a:r>
              <a:rPr b="0" i="0" lang="en" sz="10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 to see a doctor </a:t>
            </a:r>
            <a:r>
              <a:rPr b="1" i="0" lang="en" sz="10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40km away</a:t>
            </a:r>
            <a:r>
              <a:rPr b="0" i="0" lang="en" sz="10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 or ignores symptoms and hopes they pass. She has been managing this for 15 years.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4314981" y="3659460"/>
            <a:ext cx="4337603" cy="908447"/>
          </a:xfrm>
          <a:prstGeom prst="roundRect">
            <a:avLst>
              <a:gd fmla="val 13167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7885" y="3848546"/>
            <a:ext cx="166088" cy="13290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/>
          <p:nvPr/>
        </p:nvSpPr>
        <p:spPr>
          <a:xfrm>
            <a:off x="4746881" y="3804716"/>
            <a:ext cx="3772799" cy="617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Geist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Amna represents </a:t>
            </a:r>
            <a:r>
              <a:rPr b="1" i="0" lang="en" sz="100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220 million Pakistanis</a:t>
            </a:r>
            <a:r>
              <a:rPr b="0" i="0" lang="en" sz="100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 — low-literacy, Urdu-speaking, locked out of digital health because every app assumes she reads English.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600456" cy="5143500"/>
          </a:xfrm>
          <a:custGeom>
            <a:rect b="b" l="l" r="r" t="t"/>
            <a:pathLst>
              <a:path extrusionOk="0" h="100000" w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descr="preencoded.png" id="87" name="Google Shape;8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130391"/>
            <a:ext cx="3401100" cy="47254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/>
          <p:nvPr/>
        </p:nvSpPr>
        <p:spPr>
          <a:xfrm>
            <a:off x="3925125" y="435025"/>
            <a:ext cx="4722771" cy="705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The Problem: Healthcare Access Crisis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8"/>
          <p:cNvSpPr/>
          <p:nvPr/>
        </p:nvSpPr>
        <p:spPr>
          <a:xfrm>
            <a:off x="3925125" y="1275904"/>
            <a:ext cx="4722771" cy="790649"/>
          </a:xfrm>
          <a:prstGeom prst="roundRect">
            <a:avLst>
              <a:gd fmla="val 12859" name="adj"/>
            </a:avLst>
          </a:prstGeom>
          <a:solidFill>
            <a:srgbClr val="D1EFE4"/>
          </a:solidFill>
          <a:ln cap="flat" cmpd="sng" w="9525">
            <a:solidFill>
              <a:srgbClr val="B7D5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/>
          <p:nvPr/>
        </p:nvSpPr>
        <p:spPr>
          <a:xfrm>
            <a:off x="4042849" y="1393627"/>
            <a:ext cx="4487324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1 Doctor per 1,000 People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8"/>
          <p:cNvSpPr/>
          <p:nvPr/>
        </p:nvSpPr>
        <p:spPr>
          <a:xfrm>
            <a:off x="4042849" y="1624087"/>
            <a:ext cx="4487324" cy="324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900"/>
              <a:buFont typeface="Geist"/>
              <a:buNone/>
            </a:pPr>
            <a:r>
              <a:rPr b="1" i="0" lang="en" sz="9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Pakistan's ratio vs. 2.8 in India and 4.3 in the UK. Primary care is structurally out of reach.</a:t>
            </a:r>
            <a:endParaRPr b="1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8"/>
          <p:cNvSpPr/>
          <p:nvPr/>
        </p:nvSpPr>
        <p:spPr>
          <a:xfrm>
            <a:off x="3925125" y="2156519"/>
            <a:ext cx="4722771" cy="790649"/>
          </a:xfrm>
          <a:prstGeom prst="roundRect">
            <a:avLst>
              <a:gd fmla="val 12859" name="adj"/>
            </a:avLst>
          </a:prstGeom>
          <a:solidFill>
            <a:srgbClr val="D1EFE4"/>
          </a:solidFill>
          <a:ln cap="flat" cmpd="sng" w="9525">
            <a:solidFill>
              <a:srgbClr val="B7D5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8"/>
          <p:cNvSpPr/>
          <p:nvPr/>
        </p:nvSpPr>
        <p:spPr>
          <a:xfrm>
            <a:off x="4042849" y="2274242"/>
            <a:ext cx="4487324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Unreachable Care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8"/>
          <p:cNvSpPr/>
          <p:nvPr/>
        </p:nvSpPr>
        <p:spPr>
          <a:xfrm>
            <a:off x="4042849" y="2504703"/>
            <a:ext cx="4487324" cy="324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900"/>
              <a:buFont typeface="Geist"/>
              <a:buNone/>
            </a:pPr>
            <a:r>
              <a:rPr b="1" i="0" lang="en" sz="9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₨500–2,000 per visit. 40+ km distance. 6+ hour waits. For millions, it simply isn't an option.</a:t>
            </a:r>
            <a:endParaRPr b="1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3925125" y="3037135"/>
            <a:ext cx="4722771" cy="790649"/>
          </a:xfrm>
          <a:prstGeom prst="roundRect">
            <a:avLst>
              <a:gd fmla="val 12859" name="adj"/>
            </a:avLst>
          </a:prstGeom>
          <a:solidFill>
            <a:srgbClr val="D1EFE4"/>
          </a:solidFill>
          <a:ln cap="flat" cmpd="sng" w="9525">
            <a:solidFill>
              <a:srgbClr val="B7D5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/>
          <p:nvPr/>
        </p:nvSpPr>
        <p:spPr>
          <a:xfrm>
            <a:off x="4042849" y="3154859"/>
            <a:ext cx="4487324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Dangerous Delay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4042849" y="3385319"/>
            <a:ext cx="4487324" cy="324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900"/>
              <a:buFont typeface="Geist"/>
              <a:buNone/>
            </a:pPr>
            <a:r>
              <a:rPr b="1" i="0" lang="en" sz="9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Red-flag symptoms get ignored. Emergency rooms flood with minor cases. No safe first step exists.</a:t>
            </a:r>
            <a:endParaRPr b="1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3925125" y="3917752"/>
            <a:ext cx="4722771" cy="790649"/>
          </a:xfrm>
          <a:prstGeom prst="roundRect">
            <a:avLst>
              <a:gd fmla="val 12859" name="adj"/>
            </a:avLst>
          </a:prstGeom>
          <a:solidFill>
            <a:srgbClr val="D1EFE4"/>
          </a:solidFill>
          <a:ln cap="flat" cmpd="sng" w="9525">
            <a:solidFill>
              <a:srgbClr val="B7D5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/>
          <p:nvPr/>
        </p:nvSpPr>
        <p:spPr>
          <a:xfrm>
            <a:off x="4042849" y="4035475"/>
            <a:ext cx="4487324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Apps That Exclude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4042849" y="4265935"/>
            <a:ext cx="4487324" cy="324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900"/>
              <a:buFont typeface="Geist"/>
              <a:buNone/>
            </a:pPr>
            <a:r>
              <a:rPr b="1" i="0" lang="en" sz="9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Every existing health app is built for English </a:t>
            </a:r>
            <a:r>
              <a:rPr b="1" lang="en" sz="9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speakers—erasing</a:t>
            </a:r>
            <a:r>
              <a:rPr b="1" i="0" lang="en" sz="9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 the low-literacy, Urdu-speaking majority.</a:t>
            </a:r>
            <a:endParaRPr b="1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/>
          <p:nvPr/>
        </p:nvSpPr>
        <p:spPr>
          <a:xfrm>
            <a:off x="496119" y="464344"/>
            <a:ext cx="8151776" cy="436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Solution: Nabz Voice-First Triage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" name="Google Shape;10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2952" y="855173"/>
            <a:ext cx="5193338" cy="204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/>
          <p:nvPr/>
        </p:nvSpPr>
        <p:spPr>
          <a:xfrm>
            <a:off x="2860849" y="1564749"/>
            <a:ext cx="10332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798"/>
              <a:buFont typeface="Arial"/>
              <a:buNone/>
            </a:pPr>
            <a:r>
              <a:rPr b="1" i="0" lang="en" sz="798" u="none" cap="none" strike="noStrik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Speak in Urdu</a:t>
            </a:r>
            <a:endParaRPr b="0" i="0" sz="7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9"/>
          <p:cNvSpPr/>
          <p:nvPr/>
        </p:nvSpPr>
        <p:spPr>
          <a:xfrm>
            <a:off x="2860849" y="1745297"/>
            <a:ext cx="10332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665"/>
              <a:buFont typeface="Geist"/>
              <a:buNone/>
            </a:pPr>
            <a:r>
              <a:rPr b="0" i="0" lang="en" sz="665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Voice or text input, Urdu supported</a:t>
            </a:r>
            <a:endParaRPr b="0" i="0" sz="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4145314" y="1650181"/>
            <a:ext cx="10332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798"/>
              <a:buFont typeface="Arial"/>
              <a:buNone/>
            </a:pPr>
            <a:r>
              <a:rPr b="1" i="0" lang="en" sz="798" u="none" cap="none" strike="noStrik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AI Triage Questions</a:t>
            </a:r>
            <a:endParaRPr b="0" i="0" sz="7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9"/>
          <p:cNvSpPr/>
          <p:nvPr/>
        </p:nvSpPr>
        <p:spPr>
          <a:xfrm>
            <a:off x="4145314" y="1971295"/>
            <a:ext cx="10332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665"/>
              <a:buFont typeface="Geist"/>
              <a:buNone/>
            </a:pPr>
            <a:r>
              <a:rPr b="0" i="0" lang="en" sz="665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3–4 GP-depth clinical prompts</a:t>
            </a:r>
            <a:endParaRPr b="0" i="0" sz="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9"/>
          <p:cNvSpPr/>
          <p:nvPr/>
        </p:nvSpPr>
        <p:spPr>
          <a:xfrm>
            <a:off x="5444772" y="1564749"/>
            <a:ext cx="10332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798"/>
              <a:buFont typeface="Arial"/>
              <a:buNone/>
            </a:pPr>
            <a:r>
              <a:rPr b="1" i="0" lang="en" sz="798" u="none" cap="none" strike="noStrik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Get Recommendation</a:t>
            </a:r>
            <a:endParaRPr b="0" i="0" sz="7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5444772" y="1885862"/>
            <a:ext cx="10332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665"/>
              <a:buFont typeface="Geist"/>
              <a:buNone/>
            </a:pPr>
            <a:r>
              <a:rPr b="0" i="0" lang="en" sz="665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Color-coded: Emergency/Doctor/Home</a:t>
            </a:r>
            <a:endParaRPr b="0" i="0" sz="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4" name="Google Shape;11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3880" y="2963396"/>
            <a:ext cx="1884116" cy="1563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/>
          <p:nvPr/>
        </p:nvSpPr>
        <p:spPr>
          <a:xfrm>
            <a:off x="938657" y="3121973"/>
            <a:ext cx="14907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🎙️</a:t>
            </a:r>
            <a:r>
              <a:rPr b="1" i="0" lang="en" sz="140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 Accessible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938657" y="3482137"/>
            <a:ext cx="14907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100"/>
              <a:buFont typeface="Geist"/>
              <a:buNone/>
            </a:pPr>
            <a:r>
              <a:rPr b="0" i="0" lang="en" sz="11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Voice input, Urdu language — no reading, no typing, no English required.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7" name="Google Shape;11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25416" y="2963396"/>
            <a:ext cx="1884116" cy="1563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9"/>
          <p:cNvSpPr/>
          <p:nvPr/>
        </p:nvSpPr>
        <p:spPr>
          <a:xfrm>
            <a:off x="2960192" y="3121973"/>
            <a:ext cx="14907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🛡️</a:t>
            </a:r>
            <a:r>
              <a:rPr b="1" i="0" lang="en" sz="140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 Safe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2960192" y="3482137"/>
            <a:ext cx="14907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100"/>
              <a:buFont typeface="Geist"/>
              <a:buNone/>
            </a:pPr>
            <a:r>
              <a:rPr b="0" i="0" lang="en" sz="11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Triage only — never diagnoses or prescribes. Red flags escalate instantly.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0" name="Google Shape;12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6955" y="2961457"/>
            <a:ext cx="1884117" cy="156314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/>
          <p:nvPr/>
        </p:nvSpPr>
        <p:spPr>
          <a:xfrm>
            <a:off x="4981732" y="3120033"/>
            <a:ext cx="1490814" cy="222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🧠</a:t>
            </a:r>
            <a:r>
              <a:rPr b="1" i="0" lang="en" sz="140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 Smart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4981732" y="3480197"/>
            <a:ext cx="1490814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100"/>
              <a:buFont typeface="Geist"/>
              <a:buNone/>
            </a:pPr>
            <a:r>
              <a:rPr b="0" i="0" lang="en" sz="11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GP-depth clinical questions, WHO/FDA medication safety </a:t>
            </a:r>
            <a:r>
              <a:rPr lang="en" sz="11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catalog, and</a:t>
            </a:r>
            <a:r>
              <a:rPr b="0" i="0" lang="en" sz="11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 family profiles.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3" name="Google Shape;12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8491" y="2961457"/>
            <a:ext cx="1884117" cy="156314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/>
          <p:nvPr/>
        </p:nvSpPr>
        <p:spPr>
          <a:xfrm>
            <a:off x="7003267" y="3120033"/>
            <a:ext cx="1490814" cy="222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</a:t>
            </a:r>
            <a:r>
              <a:rPr b="1" i="0" lang="en" sz="140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 Actionable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7003267" y="3480197"/>
            <a:ext cx="1490814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100"/>
              <a:buFont typeface="Geist"/>
              <a:buNone/>
            </a:pPr>
            <a:r>
              <a:rPr b="0" i="0" lang="en" sz="11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Doctor handoff with SBAR summary + QR code ready for the clinician.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/>
          <p:nvPr/>
        </p:nvSpPr>
        <p:spPr>
          <a:xfrm>
            <a:off x="496119" y="944761"/>
            <a:ext cx="8151776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User Experience: Amna's Journey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2" name="Google Shape;13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671265"/>
            <a:ext cx="1104872" cy="68282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0"/>
          <p:cNvSpPr/>
          <p:nvPr/>
        </p:nvSpPr>
        <p:spPr>
          <a:xfrm>
            <a:off x="496119" y="2531269"/>
            <a:ext cx="190500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1 — Discovery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496119" y="2837780"/>
            <a:ext cx="1905003" cy="1360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100"/>
              <a:buFont typeface="Geist"/>
              <a:buNone/>
            </a:pPr>
            <a:r>
              <a:rPr b="0" i="0" lang="en" sz="11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Amna's neighbor shares Nabz via WhatsApp. No signup needed — guest mode. She speaks naturally: </a:t>
            </a:r>
            <a:r>
              <a:rPr b="0" i="1" lang="en" sz="11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"میرے بیٹے کو بخار ہے"</a:t>
            </a:r>
            <a:r>
              <a:rPr b="0" i="0" lang="en" sz="11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 (my son has fever).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5" name="Google Shape;13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78302" y="1671265"/>
            <a:ext cx="1104872" cy="682823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/>
          <p:nvPr/>
        </p:nvSpPr>
        <p:spPr>
          <a:xfrm>
            <a:off x="2578302" y="2531269"/>
            <a:ext cx="190507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2 — Triage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0"/>
          <p:cNvSpPr/>
          <p:nvPr/>
        </p:nvSpPr>
        <p:spPr>
          <a:xfrm>
            <a:off x="2578302" y="2837780"/>
            <a:ext cx="1905078" cy="1134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100"/>
              <a:buFont typeface="Geist"/>
              <a:buNone/>
            </a:pPr>
            <a:r>
              <a:rPr b="0" i="0" lang="en" sz="11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AI asks 4 smart questions by voice: fever level, cough, rash, breathing difficulty. Live analysis shows findings and confidence in real time.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8" name="Google Shape;13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0560" y="1671265"/>
            <a:ext cx="1104872" cy="682823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0"/>
          <p:cNvSpPr/>
          <p:nvPr/>
        </p:nvSpPr>
        <p:spPr>
          <a:xfrm>
            <a:off x="4660560" y="2531269"/>
            <a:ext cx="1905078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3 — Recommendation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0"/>
          <p:cNvSpPr/>
          <p:nvPr/>
        </p:nvSpPr>
        <p:spPr>
          <a:xfrm>
            <a:off x="4660560" y="3059237"/>
            <a:ext cx="1905078" cy="1134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eist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🟠</a:t>
            </a:r>
            <a:r>
              <a:rPr b="0" i="0" lang="en" sz="11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 "See a doctor within 24 hours." Plain-Urdu advice spoken aloud: </a:t>
            </a:r>
            <a:r>
              <a:rPr b="0" i="1" lang="en" sz="11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"بخار کم کرنے کے لیے ٹائلنول دیں"</a:t>
            </a:r>
            <a:r>
              <a:rPr b="0" i="0" lang="en" sz="11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. Nearby clinics appear on map.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1" name="Google Shape;14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42818" y="1671265"/>
            <a:ext cx="1104872" cy="68282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0"/>
          <p:cNvSpPr/>
          <p:nvPr/>
        </p:nvSpPr>
        <p:spPr>
          <a:xfrm>
            <a:off x="6742818" y="2531269"/>
            <a:ext cx="190507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4 — Impact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0"/>
          <p:cNvSpPr/>
          <p:nvPr/>
        </p:nvSpPr>
        <p:spPr>
          <a:xfrm>
            <a:off x="6742818" y="2837780"/>
            <a:ext cx="1905078" cy="1134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100"/>
              <a:buFont typeface="Geist"/>
              <a:buNone/>
            </a:pPr>
            <a:r>
              <a:rPr b="0" i="0" lang="en" sz="11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Amna saves ₨500, avoids the ER, gets her son to the right care at the right time — and signs up to add her whole family.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84028"/>
            <a:ext cx="8839198" cy="3975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/>
        </p:nvSpPr>
        <p:spPr>
          <a:xfrm>
            <a:off x="361550" y="344000"/>
            <a:ext cx="7143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2600"/>
              <a:buFont typeface="Arial"/>
              <a:buNone/>
            </a:pPr>
            <a:r>
              <a:rPr b="1" lang="en" sz="2600">
                <a:solidFill>
                  <a:srgbClr val="006747"/>
                </a:solidFill>
              </a:rPr>
              <a:t>Flow +Tech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ake this theme matched " id="154" name="Google Shape;154;p22"/>
          <p:cNvPicPr preferRelativeResize="0"/>
          <p:nvPr/>
        </p:nvPicPr>
        <p:blipFill rotWithShape="1">
          <a:blip r:embed="rId3">
            <a:alphaModFix/>
          </a:blip>
          <a:srcRect b="0" l="0" r="0" t="12534"/>
          <a:stretch/>
        </p:blipFill>
        <p:spPr>
          <a:xfrm>
            <a:off x="370901" y="972013"/>
            <a:ext cx="8402175" cy="364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/>
          <p:nvPr/>
        </p:nvSpPr>
        <p:spPr>
          <a:xfrm>
            <a:off x="496119" y="395213"/>
            <a:ext cx="8151776" cy="408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Business Model: Freemium + Family Tiers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3"/>
          <p:cNvSpPr/>
          <p:nvPr/>
        </p:nvSpPr>
        <p:spPr>
          <a:xfrm>
            <a:off x="496119" y="1907753"/>
            <a:ext cx="4339984" cy="1406872"/>
          </a:xfrm>
          <a:prstGeom prst="roundRect">
            <a:avLst>
              <a:gd fmla="val 8360" name="adj"/>
            </a:avLst>
          </a:prstGeom>
          <a:solidFill>
            <a:srgbClr val="D1EFE4"/>
          </a:solidFill>
          <a:ln cap="flat" cmpd="sng" w="9525">
            <a:solidFill>
              <a:srgbClr val="B7D5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3"/>
          <p:cNvSpPr/>
          <p:nvPr/>
        </p:nvSpPr>
        <p:spPr>
          <a:xfrm>
            <a:off x="500882" y="1912516"/>
            <a:ext cx="2165230" cy="1397347"/>
          </a:xfrm>
          <a:custGeom>
            <a:rect b="b" l="l" r="r" t="t"/>
            <a:pathLst>
              <a:path extrusionOk="0" h="1863130" w="2886896">
                <a:moveTo>
                  <a:pt x="130689" y="0"/>
                </a:moveTo>
                <a:lnTo>
                  <a:pt x="2886896" y="0"/>
                </a:lnTo>
                <a:lnTo>
                  <a:pt x="2886896" y="1863130"/>
                </a:lnTo>
                <a:lnTo>
                  <a:pt x="130689" y="1863130"/>
                </a:lnTo>
                <a:cubicBezTo>
                  <a:pt x="58511" y="1863130"/>
                  <a:pt x="0" y="1804617"/>
                  <a:pt x="0" y="1732438"/>
                </a:cubicBezTo>
                <a:lnTo>
                  <a:pt x="0" y="130692"/>
                </a:lnTo>
                <a:cubicBezTo>
                  <a:pt x="0" y="58513"/>
                  <a:pt x="58511" y="0"/>
                  <a:pt x="130689" y="0"/>
                </a:cubicBezTo>
                <a:close/>
              </a:path>
            </a:pathLst>
          </a:custGeom>
          <a:solidFill>
            <a:srgbClr val="D1EF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3"/>
          <p:cNvSpPr/>
          <p:nvPr/>
        </p:nvSpPr>
        <p:spPr>
          <a:xfrm>
            <a:off x="631553" y="2043187"/>
            <a:ext cx="1903887" cy="20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🆓</a:t>
            </a:r>
            <a:r>
              <a:rPr b="1" i="0" lang="en" sz="130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 Free Tier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3"/>
          <p:cNvSpPr/>
          <p:nvPr/>
        </p:nvSpPr>
        <p:spPr>
          <a:xfrm>
            <a:off x="631553" y="2372543"/>
            <a:ext cx="1903887" cy="602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000"/>
              <a:buFont typeface="Geist"/>
              <a:buNone/>
            </a:pPr>
            <a:r>
              <a:rPr b="0" i="0" lang="en" sz="10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Single patient profile · Unlimited triage sessions · Basic home-care advice in Urdu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3"/>
          <p:cNvSpPr/>
          <p:nvPr/>
        </p:nvSpPr>
        <p:spPr>
          <a:xfrm>
            <a:off x="2666111" y="1912516"/>
            <a:ext cx="2165230" cy="1397347"/>
          </a:xfrm>
          <a:custGeom>
            <a:rect b="b" l="l" r="r" t="t"/>
            <a:pathLst>
              <a:path extrusionOk="0" h="1863130" w="2886896">
                <a:moveTo>
                  <a:pt x="0" y="0"/>
                </a:moveTo>
                <a:lnTo>
                  <a:pt x="2756207" y="0"/>
                </a:lnTo>
                <a:cubicBezTo>
                  <a:pt x="2790868" y="0"/>
                  <a:pt x="2824109" y="13769"/>
                  <a:pt x="2848618" y="38279"/>
                </a:cubicBezTo>
                <a:cubicBezTo>
                  <a:pt x="2873127" y="62788"/>
                  <a:pt x="2886896" y="96030"/>
                  <a:pt x="2886896" y="130692"/>
                </a:cubicBezTo>
                <a:lnTo>
                  <a:pt x="2886896" y="1732438"/>
                </a:lnTo>
                <a:cubicBezTo>
                  <a:pt x="2886896" y="1804617"/>
                  <a:pt x="2828385" y="1863130"/>
                  <a:pt x="2756207" y="1863130"/>
                </a:cubicBezTo>
                <a:lnTo>
                  <a:pt x="0" y="1863130"/>
                </a:lnTo>
                <a:lnTo>
                  <a:pt x="0" y="0"/>
                </a:lnTo>
                <a:close/>
              </a:path>
            </a:pathLst>
          </a:custGeom>
          <a:solidFill>
            <a:srgbClr val="00674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006747"/>
              </a:highlight>
            </a:endParaRPr>
          </a:p>
        </p:txBody>
      </p:sp>
      <p:sp>
        <p:nvSpPr>
          <p:cNvPr id="166" name="Google Shape;166;p23"/>
          <p:cNvSpPr/>
          <p:nvPr/>
        </p:nvSpPr>
        <p:spPr>
          <a:xfrm>
            <a:off x="2666111" y="1912516"/>
            <a:ext cx="14288" cy="1397347"/>
          </a:xfrm>
          <a:prstGeom prst="roundRect">
            <a:avLst>
              <a:gd fmla="val 49999" name="adj"/>
            </a:avLst>
          </a:prstGeom>
          <a:solidFill>
            <a:srgbClr val="B7D5C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3"/>
          <p:cNvSpPr/>
          <p:nvPr/>
        </p:nvSpPr>
        <p:spPr>
          <a:xfrm>
            <a:off x="2796783" y="2043187"/>
            <a:ext cx="1903887" cy="412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💳 Paid — ₨299/month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3"/>
          <p:cNvSpPr/>
          <p:nvPr/>
        </p:nvSpPr>
        <p:spPr>
          <a:xfrm>
            <a:off x="2796783" y="2576661"/>
            <a:ext cx="1903887" cy="602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000"/>
              <a:buFont typeface="Geist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Geist"/>
                <a:ea typeface="Geist"/>
                <a:cs typeface="Geist"/>
                <a:sym typeface="Geist"/>
              </a:rPr>
              <a:t>2+ family profiles · Priority doctor handoff · Prescription history · Medication reminders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3"/>
          <p:cNvSpPr/>
          <p:nvPr/>
        </p:nvSpPr>
        <p:spPr>
          <a:xfrm>
            <a:off x="496119" y="3450134"/>
            <a:ext cx="4339984" cy="401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000"/>
              <a:buFont typeface="Geist"/>
              <a:buNone/>
            </a:pPr>
            <a:r>
              <a:rPr b="0" i="0" lang="en" sz="10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Family plan tiers scale from </a:t>
            </a:r>
            <a:r>
              <a:rPr b="1" i="0" lang="en" sz="10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2–5 profiles</a:t>
            </a:r>
            <a:r>
              <a:rPr b="0" i="0" lang="en" sz="10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 to </a:t>
            </a:r>
            <a:r>
              <a:rPr b="1" i="0" lang="en" sz="10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5–10 profiles</a:t>
            </a:r>
            <a:r>
              <a:rPr b="0" i="0" lang="en" sz="10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 to serve extended households.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0" name="Google Shape;17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9656" y="1130859"/>
            <a:ext cx="3492834" cy="3492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/>
          <p:nvPr/>
        </p:nvSpPr>
        <p:spPr>
          <a:xfrm>
            <a:off x="496119" y="458688"/>
            <a:ext cx="8151776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Milestones: 4-Month Roadmap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4"/>
          <p:cNvSpPr/>
          <p:nvPr/>
        </p:nvSpPr>
        <p:spPr>
          <a:xfrm>
            <a:off x="4562483" y="1185193"/>
            <a:ext cx="19050" cy="3499544"/>
          </a:xfrm>
          <a:prstGeom prst="roundRect">
            <a:avLst>
              <a:gd fmla="val 50001" name="adj"/>
            </a:avLst>
          </a:prstGeom>
          <a:solidFill>
            <a:srgbClr val="B7D5C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4"/>
          <p:cNvSpPr/>
          <p:nvPr/>
        </p:nvSpPr>
        <p:spPr>
          <a:xfrm>
            <a:off x="4006311" y="1335137"/>
            <a:ext cx="425277" cy="19050"/>
          </a:xfrm>
          <a:prstGeom prst="roundRect">
            <a:avLst>
              <a:gd fmla="val 49999" name="adj"/>
            </a:avLst>
          </a:prstGeom>
          <a:solidFill>
            <a:srgbClr val="B7D5C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4"/>
          <p:cNvSpPr/>
          <p:nvPr/>
        </p:nvSpPr>
        <p:spPr>
          <a:xfrm>
            <a:off x="4412538" y="1185193"/>
            <a:ext cx="318939" cy="318939"/>
          </a:xfrm>
          <a:prstGeom prst="roundRect">
            <a:avLst>
              <a:gd fmla="val 40005" name="adj"/>
            </a:avLst>
          </a:prstGeom>
          <a:solidFill>
            <a:srgbClr val="D1EFE4"/>
          </a:solidFill>
          <a:ln cap="flat" cmpd="sng" w="9525">
            <a:solidFill>
              <a:srgbClr val="B7D5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4"/>
          <p:cNvSpPr/>
          <p:nvPr/>
        </p:nvSpPr>
        <p:spPr>
          <a:xfrm>
            <a:off x="4465707" y="1211759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4"/>
          <p:cNvSpPr/>
          <p:nvPr/>
        </p:nvSpPr>
        <p:spPr>
          <a:xfrm>
            <a:off x="496119" y="1233860"/>
            <a:ext cx="336709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Month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4"/>
          <p:cNvSpPr/>
          <p:nvPr/>
        </p:nvSpPr>
        <p:spPr>
          <a:xfrm>
            <a:off x="496119" y="1540371"/>
            <a:ext cx="3367093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100"/>
              <a:buFont typeface="Geist"/>
              <a:buNone/>
            </a:pPr>
            <a:r>
              <a:rPr b="1" i="0" lang="en" sz="11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Beta Launch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100"/>
              <a:buFont typeface="Geist"/>
              <a:buNone/>
            </a:pPr>
            <a:r>
              <a:rPr b="0" i="0" lang="en" sz="11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100 users in Lahore · Voice UX feedback · Urdu accuracy · Triage logic validation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4"/>
          <p:cNvSpPr/>
          <p:nvPr/>
        </p:nvSpPr>
        <p:spPr>
          <a:xfrm>
            <a:off x="4712427" y="2185690"/>
            <a:ext cx="425277" cy="19050"/>
          </a:xfrm>
          <a:prstGeom prst="roundRect">
            <a:avLst>
              <a:gd fmla="val 49999" name="adj"/>
            </a:avLst>
          </a:prstGeom>
          <a:solidFill>
            <a:srgbClr val="B7D5C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4"/>
          <p:cNvSpPr/>
          <p:nvPr/>
        </p:nvSpPr>
        <p:spPr>
          <a:xfrm>
            <a:off x="4412538" y="2035745"/>
            <a:ext cx="318939" cy="318939"/>
          </a:xfrm>
          <a:prstGeom prst="roundRect">
            <a:avLst>
              <a:gd fmla="val 40005" name="adj"/>
            </a:avLst>
          </a:prstGeom>
          <a:solidFill>
            <a:srgbClr val="D1EFE4"/>
          </a:solidFill>
          <a:ln cap="flat" cmpd="sng" w="9525">
            <a:solidFill>
              <a:srgbClr val="B7D5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4"/>
          <p:cNvSpPr/>
          <p:nvPr/>
        </p:nvSpPr>
        <p:spPr>
          <a:xfrm>
            <a:off x="4465707" y="2062311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4"/>
          <p:cNvSpPr/>
          <p:nvPr/>
        </p:nvSpPr>
        <p:spPr>
          <a:xfrm>
            <a:off x="5280802" y="2084412"/>
            <a:ext cx="336709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Month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4"/>
          <p:cNvSpPr/>
          <p:nvPr/>
        </p:nvSpPr>
        <p:spPr>
          <a:xfrm>
            <a:off x="5280802" y="2390924"/>
            <a:ext cx="3367093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100"/>
              <a:buFont typeface="Geist"/>
              <a:buNone/>
            </a:pPr>
            <a:r>
              <a:rPr b="1" i="0" lang="en" sz="11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Scale &amp; Integrate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100"/>
              <a:buFont typeface="Geist"/>
              <a:buNone/>
            </a:pPr>
            <a:r>
              <a:rPr b="0" i="0" lang="en" sz="11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Full Qwen API integration · 500 users across Lahore, Karachi, Islamabad · Family profiles live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4"/>
          <p:cNvSpPr/>
          <p:nvPr/>
        </p:nvSpPr>
        <p:spPr>
          <a:xfrm>
            <a:off x="4006311" y="2918817"/>
            <a:ext cx="425277" cy="19050"/>
          </a:xfrm>
          <a:prstGeom prst="roundRect">
            <a:avLst>
              <a:gd fmla="val 49999" name="adj"/>
            </a:avLst>
          </a:prstGeom>
          <a:solidFill>
            <a:srgbClr val="B7D5C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4"/>
          <p:cNvSpPr/>
          <p:nvPr/>
        </p:nvSpPr>
        <p:spPr>
          <a:xfrm>
            <a:off x="4412538" y="2768873"/>
            <a:ext cx="318939" cy="318939"/>
          </a:xfrm>
          <a:prstGeom prst="roundRect">
            <a:avLst>
              <a:gd fmla="val 40005" name="adj"/>
            </a:avLst>
          </a:prstGeom>
          <a:solidFill>
            <a:srgbClr val="D1EFE4"/>
          </a:solidFill>
          <a:ln cap="flat" cmpd="sng" w="9525">
            <a:solidFill>
              <a:srgbClr val="B7D5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4"/>
          <p:cNvSpPr/>
          <p:nvPr/>
        </p:nvSpPr>
        <p:spPr>
          <a:xfrm>
            <a:off x="4465707" y="2795439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4"/>
          <p:cNvSpPr/>
          <p:nvPr/>
        </p:nvSpPr>
        <p:spPr>
          <a:xfrm>
            <a:off x="496119" y="2817540"/>
            <a:ext cx="336709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Month 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4"/>
          <p:cNvSpPr/>
          <p:nvPr/>
        </p:nvSpPr>
        <p:spPr>
          <a:xfrm>
            <a:off x="496119" y="3124052"/>
            <a:ext cx="3367093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100"/>
              <a:buFont typeface="Geist"/>
              <a:buNone/>
            </a:pPr>
            <a:r>
              <a:rPr b="1" i="0" lang="en" sz="11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Document Intelligence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100"/>
              <a:buFont typeface="Geist"/>
              <a:buNone/>
            </a:pPr>
            <a:r>
              <a:rPr b="0" i="0" lang="en" sz="11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Qwen-VL for lab reports &amp; prescriptions · 5 clinic partnerships · 2,000 users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4"/>
          <p:cNvSpPr/>
          <p:nvPr/>
        </p:nvSpPr>
        <p:spPr>
          <a:xfrm>
            <a:off x="4712427" y="3651944"/>
            <a:ext cx="425277" cy="19050"/>
          </a:xfrm>
          <a:prstGeom prst="roundRect">
            <a:avLst>
              <a:gd fmla="val 49999" name="adj"/>
            </a:avLst>
          </a:prstGeom>
          <a:solidFill>
            <a:srgbClr val="B7D5C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4"/>
          <p:cNvSpPr/>
          <p:nvPr/>
        </p:nvSpPr>
        <p:spPr>
          <a:xfrm>
            <a:off x="4412538" y="3502000"/>
            <a:ext cx="318939" cy="318939"/>
          </a:xfrm>
          <a:prstGeom prst="roundRect">
            <a:avLst>
              <a:gd fmla="val 40005" name="adj"/>
            </a:avLst>
          </a:prstGeom>
          <a:solidFill>
            <a:srgbClr val="D1EFE4"/>
          </a:solidFill>
          <a:ln cap="flat" cmpd="sng" w="9525">
            <a:solidFill>
              <a:srgbClr val="B7D5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4"/>
          <p:cNvSpPr/>
          <p:nvPr/>
        </p:nvSpPr>
        <p:spPr>
          <a:xfrm>
            <a:off x="4465707" y="3528566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4"/>
          <p:cNvSpPr/>
          <p:nvPr/>
        </p:nvSpPr>
        <p:spPr>
          <a:xfrm>
            <a:off x="5280802" y="3550667"/>
            <a:ext cx="336709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Month 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4"/>
          <p:cNvSpPr/>
          <p:nvPr/>
        </p:nvSpPr>
        <p:spPr>
          <a:xfrm>
            <a:off x="5280802" y="3857179"/>
            <a:ext cx="3367093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100"/>
              <a:buFont typeface="Geist"/>
              <a:buNone/>
            </a:pPr>
            <a:r>
              <a:rPr b="1" i="0" lang="en" sz="11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Production Launch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100"/>
              <a:buFont typeface="Geist"/>
              <a:buNone/>
            </a:pPr>
            <a:r>
              <a:rPr b="0" i="0" lang="en" sz="11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Full compliance · Paid membership · 5,000+ users · National scale preparation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686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550" y="255400"/>
            <a:ext cx="2650500" cy="29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6" title="dashboar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1725" y="1139050"/>
            <a:ext cx="6129676" cy="349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 txBox="1"/>
          <p:nvPr/>
        </p:nvSpPr>
        <p:spPr>
          <a:xfrm>
            <a:off x="3666100" y="400300"/>
            <a:ext cx="58176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6747"/>
                </a:solidFill>
              </a:rPr>
              <a:t>Demo: Live triage walkthrough.</a:t>
            </a:r>
            <a:endParaRPr b="1" sz="2800">
              <a:solidFill>
                <a:srgbClr val="006747"/>
              </a:solidFill>
            </a:endParaRPr>
          </a:p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6747"/>
              </a:solidFill>
            </a:endParaRPr>
          </a:p>
        </p:txBody>
      </p:sp>
      <p:pic>
        <p:nvPicPr>
          <p:cNvPr id="210" name="Google Shape;210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1725" y="350900"/>
            <a:ext cx="714375" cy="71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600456" cy="5143500"/>
          </a:xfrm>
          <a:custGeom>
            <a:rect b="b" l="l" r="r" t="t"/>
            <a:pathLst>
              <a:path extrusionOk="0" h="100000" w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descr="preencoded.png" id="217" name="Google Shape;21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726" y="817364"/>
            <a:ext cx="2631513" cy="350877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7"/>
          <p:cNvSpPr/>
          <p:nvPr/>
        </p:nvSpPr>
        <p:spPr>
          <a:xfrm>
            <a:off x="3925125" y="406747"/>
            <a:ext cx="4722771" cy="8721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Team: Builders Behind Nabz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7"/>
          <p:cNvSpPr/>
          <p:nvPr/>
        </p:nvSpPr>
        <p:spPr>
          <a:xfrm>
            <a:off x="3925125" y="1484932"/>
            <a:ext cx="2292701" cy="1778645"/>
          </a:xfrm>
          <a:prstGeom prst="roundRect">
            <a:avLst>
              <a:gd fmla="val 7061" name="adj"/>
            </a:avLst>
          </a:prstGeom>
          <a:solidFill>
            <a:srgbClr val="D1EFE4"/>
          </a:solidFill>
          <a:ln cap="flat" cmpd="sng" w="9525">
            <a:solidFill>
              <a:srgbClr val="B7D5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7"/>
          <p:cNvSpPr/>
          <p:nvPr/>
        </p:nvSpPr>
        <p:spPr>
          <a:xfrm>
            <a:off x="4069414" y="1629221"/>
            <a:ext cx="2004123" cy="21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Kheem Darmani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7"/>
          <p:cNvSpPr/>
          <p:nvPr/>
        </p:nvSpPr>
        <p:spPr>
          <a:xfrm>
            <a:off x="4069414" y="1929631"/>
            <a:ext cx="2004123" cy="1189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100"/>
              <a:buFont typeface="Geist"/>
              <a:buNone/>
            </a:pPr>
            <a:r>
              <a:rPr b="1" lang="en" sz="110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Senior </a:t>
            </a:r>
            <a:r>
              <a:rPr b="1" i="0" lang="en" sz="11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ML Engineer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600"/>
              </a:spcBef>
              <a:spcAft>
                <a:spcPts val="0"/>
              </a:spcAft>
              <a:buClr>
                <a:srgbClr val="4B4A4A"/>
              </a:buClr>
              <a:buSzPts val="1100"/>
              <a:buFont typeface="Geist"/>
              <a:buNone/>
            </a:pPr>
            <a:r>
              <a:rPr b="0" i="0" lang="en" sz="11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Full-stack AI/ML expertise. Built core triage logic, Qwen integration, and safety guardrails.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7"/>
          <p:cNvSpPr/>
          <p:nvPr/>
        </p:nvSpPr>
        <p:spPr>
          <a:xfrm>
            <a:off x="6355195" y="1484932"/>
            <a:ext cx="2292701" cy="1778645"/>
          </a:xfrm>
          <a:prstGeom prst="roundRect">
            <a:avLst>
              <a:gd fmla="val 7061" name="adj"/>
            </a:avLst>
          </a:prstGeom>
          <a:solidFill>
            <a:srgbClr val="D1EFE4"/>
          </a:solidFill>
          <a:ln cap="flat" cmpd="sng" w="9525">
            <a:solidFill>
              <a:srgbClr val="B7D5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7"/>
          <p:cNvSpPr/>
          <p:nvPr/>
        </p:nvSpPr>
        <p:spPr>
          <a:xfrm>
            <a:off x="6499484" y="1629221"/>
            <a:ext cx="2004123" cy="21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Faiza Ali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7"/>
          <p:cNvSpPr/>
          <p:nvPr/>
        </p:nvSpPr>
        <p:spPr>
          <a:xfrm>
            <a:off x="6499484" y="1929631"/>
            <a:ext cx="2004123" cy="1189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100"/>
              <a:buFont typeface="Geist"/>
              <a:buNone/>
            </a:pPr>
            <a:r>
              <a:rPr b="1" i="0" lang="en" sz="11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AI Instructor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600"/>
              </a:spcBef>
              <a:spcAft>
                <a:spcPts val="0"/>
              </a:spcAft>
              <a:buClr>
                <a:srgbClr val="4B4A4A"/>
              </a:buClr>
              <a:buSzPts val="1100"/>
              <a:buFont typeface="Geist"/>
              <a:buNone/>
            </a:pPr>
            <a:r>
              <a:rPr b="0" i="0" lang="en" sz="11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Clinical domain knowledge, prompt engineering, Urdu NLP fine-tuning, and safety compliance.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3925125" y="3400946"/>
            <a:ext cx="4722771" cy="1335733"/>
          </a:xfrm>
          <a:prstGeom prst="roundRect">
            <a:avLst>
              <a:gd fmla="val 9403" name="adj"/>
            </a:avLst>
          </a:prstGeom>
          <a:solidFill>
            <a:srgbClr val="D1EFE4"/>
          </a:solidFill>
          <a:ln cap="flat" cmpd="sng" w="9525">
            <a:solidFill>
              <a:srgbClr val="B7D5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7"/>
          <p:cNvSpPr/>
          <p:nvPr/>
        </p:nvSpPr>
        <p:spPr>
          <a:xfrm>
            <a:off x="4069414" y="3545235"/>
            <a:ext cx="4434192" cy="21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Muhammad Hassan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7"/>
          <p:cNvSpPr/>
          <p:nvPr/>
        </p:nvSpPr>
        <p:spPr>
          <a:xfrm>
            <a:off x="4069414" y="3845645"/>
            <a:ext cx="4434192" cy="74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100"/>
              <a:buFont typeface="Geist"/>
              <a:buNone/>
            </a:pPr>
            <a:r>
              <a:rPr b="1" i="0" lang="en" sz="11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Data Scientist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600"/>
              </a:spcBef>
              <a:spcAft>
                <a:spcPts val="0"/>
              </a:spcAft>
              <a:buClr>
                <a:srgbClr val="4B4A4A"/>
              </a:buClr>
              <a:buSzPts val="1100"/>
              <a:buFont typeface="Geist"/>
              <a:buNone/>
            </a:pPr>
            <a:r>
              <a:rPr b="0" i="0" lang="en" sz="11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Backend architecture (FastAPI, SQLAlchemy), data pipelines, analytics, and deployment.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600456" cy="5143500"/>
          </a:xfrm>
          <a:custGeom>
            <a:rect b="b" l="l" r="r" t="t"/>
            <a:pathLst>
              <a:path extrusionOk="0" h="100000" w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34" name="Google Shape;234;p28"/>
          <p:cNvSpPr/>
          <p:nvPr/>
        </p:nvSpPr>
        <p:spPr>
          <a:xfrm>
            <a:off x="3925125" y="706934"/>
            <a:ext cx="4722771" cy="1772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5600"/>
              <a:buFont typeface="Arial"/>
              <a:buNone/>
            </a:pPr>
            <a:r>
              <a:rPr b="1" i="0" lang="en" sz="5600" u="none" cap="none" strike="noStrik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اپ کی آواز، اپ کی صحت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8"/>
          <p:cNvSpPr/>
          <p:nvPr/>
        </p:nvSpPr>
        <p:spPr>
          <a:xfrm>
            <a:off x="3925125" y="2691631"/>
            <a:ext cx="4722771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Your Voice. Your Health.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8"/>
          <p:cNvSpPr/>
          <p:nvPr/>
        </p:nvSpPr>
        <p:spPr>
          <a:xfrm>
            <a:off x="3925125" y="3347219"/>
            <a:ext cx="4722771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100"/>
              <a:buFont typeface="Geist"/>
              <a:buNone/>
            </a:pPr>
            <a:r>
              <a:rPr b="0" i="0" lang="en" sz="11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Healthcare in your language, when you need it most.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100"/>
              <a:buFont typeface="Geist"/>
              <a:buNone/>
            </a:pPr>
            <a:r>
              <a:rPr b="0" i="0" lang="en" sz="11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Join us in making primary care accessible to </a:t>
            </a:r>
            <a:r>
              <a:rPr b="1" i="0" lang="en" sz="11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220 million Pakistanis</a:t>
            </a:r>
            <a:r>
              <a:rPr b="0" i="0" lang="en" sz="11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8"/>
          <p:cNvSpPr/>
          <p:nvPr/>
        </p:nvSpPr>
        <p:spPr>
          <a:xfrm>
            <a:off x="3925125" y="3995738"/>
            <a:ext cx="4722771" cy="19050"/>
          </a:xfrm>
          <a:prstGeom prst="roundRect">
            <a:avLst>
              <a:gd fmla="val 49999" name="adj"/>
            </a:avLst>
          </a:prstGeom>
          <a:solidFill>
            <a:srgbClr val="4B4A4A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8"/>
          <p:cNvSpPr/>
          <p:nvPr/>
        </p:nvSpPr>
        <p:spPr>
          <a:xfrm>
            <a:off x="3696525" y="4209678"/>
            <a:ext cx="5179971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100"/>
              <a:buFont typeface="Geist"/>
              <a:buNone/>
            </a:pPr>
            <a:r>
              <a:rPr b="1" i="0" lang="en" sz="11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Nabz Team</a:t>
            </a:r>
            <a:r>
              <a:rPr b="0" i="0" lang="en" sz="1100" u="none" cap="none" strike="noStrik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 — Alibaba Cloud AI Hackathon Pakistan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025" y="4563824"/>
            <a:ext cx="2448025" cy="5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